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59" r:id="rId3"/>
    <p:sldId id="265" r:id="rId4"/>
    <p:sldId id="257" r:id="rId5"/>
    <p:sldId id="266" r:id="rId6"/>
    <p:sldId id="262" r:id="rId7"/>
    <p:sldId id="267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5F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261B2-259E-42B5-41AE-D39AA4C73285}" v="497" dt="2025-07-24T18:38:56.252"/>
    <p1510:client id="{95A12488-B79D-4620-9781-48E66BF723D5}" v="51" dt="2025-07-24T09:30:01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3D261B2-259E-42B5-41AE-D39AA4C73285}"/>
    <pc:docChg chg="modSld">
      <pc:chgData name="Guest User" userId="" providerId="Windows Live" clId="Web-{43D261B2-259E-42B5-41AE-D39AA4C73285}" dt="2025-07-24T18:38:56.252" v="295" actId="1076"/>
      <pc:docMkLst>
        <pc:docMk/>
      </pc:docMkLst>
      <pc:sldChg chg="modSp">
        <pc:chgData name="Guest User" userId="" providerId="Windows Live" clId="Web-{43D261B2-259E-42B5-41AE-D39AA4C73285}" dt="2025-07-24T18:09:52.111" v="180" actId="20577"/>
        <pc:sldMkLst>
          <pc:docMk/>
          <pc:sldMk cId="2614928890" sldId="257"/>
        </pc:sldMkLst>
        <pc:spChg chg="mod">
          <ac:chgData name="Guest User" userId="" providerId="Windows Live" clId="Web-{43D261B2-259E-42B5-41AE-D39AA4C73285}" dt="2025-07-24T18:09:52.111" v="180" actId="20577"/>
          <ac:spMkLst>
            <pc:docMk/>
            <pc:sldMk cId="2614928890" sldId="257"/>
            <ac:spMk id="3" creationId="{00000000-0000-0000-0000-000000000000}"/>
          </ac:spMkLst>
        </pc:spChg>
        <pc:picChg chg="mod">
          <ac:chgData name="Guest User" userId="" providerId="Windows Live" clId="Web-{43D261B2-259E-42B5-41AE-D39AA4C73285}" dt="2025-07-24T18:06:49.276" v="153" actId="1076"/>
          <ac:picMkLst>
            <pc:docMk/>
            <pc:sldMk cId="2614928890" sldId="257"/>
            <ac:picMk id="4" creationId="{00000000-0000-0000-0000-000000000000}"/>
          </ac:picMkLst>
        </pc:picChg>
      </pc:sldChg>
      <pc:sldChg chg="addSp delSp modSp">
        <pc:chgData name="Guest User" userId="" providerId="Windows Live" clId="Web-{43D261B2-259E-42B5-41AE-D39AA4C73285}" dt="2025-07-24T18:38:56.252" v="295" actId="1076"/>
        <pc:sldMkLst>
          <pc:docMk/>
          <pc:sldMk cId="329680432" sldId="266"/>
        </pc:sldMkLst>
        <pc:spChg chg="add mod">
          <ac:chgData name="Guest User" userId="" providerId="Windows Live" clId="Web-{43D261B2-259E-42B5-41AE-D39AA4C73285}" dt="2025-07-24T18:14:52.372" v="204" actId="20577"/>
          <ac:spMkLst>
            <pc:docMk/>
            <pc:sldMk cId="329680432" sldId="266"/>
            <ac:spMk id="2" creationId="{D2DE81C8-088F-E857-1368-A0A58127DC94}"/>
          </ac:spMkLst>
        </pc:spChg>
        <pc:spChg chg="add mod">
          <ac:chgData name="Guest User" userId="" providerId="Windows Live" clId="Web-{43D261B2-259E-42B5-41AE-D39AA4C73285}" dt="2025-07-24T18:38:45.267" v="293" actId="20577"/>
          <ac:spMkLst>
            <pc:docMk/>
            <pc:sldMk cId="329680432" sldId="266"/>
            <ac:spMk id="3" creationId="{85F83BB4-CC78-3A31-7F8A-D469971B68AA}"/>
          </ac:spMkLst>
        </pc:spChg>
        <pc:spChg chg="add mod">
          <ac:chgData name="Guest User" userId="" providerId="Windows Live" clId="Web-{43D261B2-259E-42B5-41AE-D39AA4C73285}" dt="2025-07-24T18:38:56.252" v="295" actId="1076"/>
          <ac:spMkLst>
            <pc:docMk/>
            <pc:sldMk cId="329680432" sldId="266"/>
            <ac:spMk id="6" creationId="{0ABC9DFB-F310-AE6C-A0D8-C7889885A156}"/>
          </ac:spMkLst>
        </pc:spChg>
        <pc:graphicFrameChg chg="del mod modGraphic">
          <ac:chgData name="Guest User" userId="" providerId="Windows Live" clId="Web-{43D261B2-259E-42B5-41AE-D39AA4C73285}" dt="2025-07-24T18:05:08.350" v="140"/>
          <ac:graphicFrameMkLst>
            <pc:docMk/>
            <pc:sldMk cId="329680432" sldId="266"/>
            <ac:graphicFrameMk id="4" creationId="{6F5DDF7B-1E0D-8BBC-2383-A2CA851F4F98}"/>
          </ac:graphicFrameMkLst>
        </pc:graphicFrameChg>
        <pc:picChg chg="add del mod">
          <ac:chgData name="Guest User" userId="" providerId="Windows Live" clId="Web-{43D261B2-259E-42B5-41AE-D39AA4C73285}" dt="2025-07-24T18:38:51.126" v="294"/>
          <ac:picMkLst>
            <pc:docMk/>
            <pc:sldMk cId="329680432" sldId="266"/>
            <ac:picMk id="5" creationId="{3933855A-ADCC-B86D-58B0-B3FD9C69D898}"/>
          </ac:picMkLst>
        </pc:picChg>
      </pc:sldChg>
      <pc:sldChg chg="delSp">
        <pc:chgData name="Guest User" userId="" providerId="Windows Live" clId="Web-{43D261B2-259E-42B5-41AE-D39AA4C73285}" dt="2025-07-24T18:16:32.689" v="205"/>
        <pc:sldMkLst>
          <pc:docMk/>
          <pc:sldMk cId="1876712513" sldId="267"/>
        </pc:sldMkLst>
        <pc:graphicFrameChg chg="del">
          <ac:chgData name="Guest User" userId="" providerId="Windows Live" clId="Web-{43D261B2-259E-42B5-41AE-D39AA4C73285}" dt="2025-07-24T18:16:32.689" v="205"/>
          <ac:graphicFrameMkLst>
            <pc:docMk/>
            <pc:sldMk cId="1876712513" sldId="267"/>
            <ac:graphicFrameMk id="4" creationId="{442C1D07-EBA2-1DFA-7E9D-260B9D91EA8E}"/>
          </ac:graphicFrameMkLst>
        </pc:graphicFrameChg>
      </pc:sldChg>
    </pc:docChg>
  </pc:docChgLst>
  <pc:docChgLst>
    <pc:chgData name="Sumant Bhise" userId="5680dd18a9506244" providerId="LiveId" clId="{95A12488-B79D-4620-9781-48E66BF723D5}"/>
    <pc:docChg chg="undo custSel addSld delSld modSld sldOrd">
      <pc:chgData name="Sumant Bhise" userId="5680dd18a9506244" providerId="LiveId" clId="{95A12488-B79D-4620-9781-48E66BF723D5}" dt="2025-07-24T09:30:30.585" v="458" actId="2696"/>
      <pc:docMkLst>
        <pc:docMk/>
      </pc:docMkLst>
      <pc:sldChg chg="modSp new del mod ord">
        <pc:chgData name="Sumant Bhise" userId="5680dd18a9506244" providerId="LiveId" clId="{95A12488-B79D-4620-9781-48E66BF723D5}" dt="2025-07-24T09:30:30.585" v="458" actId="2696"/>
        <pc:sldMkLst>
          <pc:docMk/>
          <pc:sldMk cId="393150425" sldId="264"/>
        </pc:sldMkLst>
        <pc:spChg chg="mod">
          <ac:chgData name="Sumant Bhise" userId="5680dd18a9506244" providerId="LiveId" clId="{95A12488-B79D-4620-9781-48E66BF723D5}" dt="2025-07-24T09:25:35.663" v="433" actId="20577"/>
          <ac:spMkLst>
            <pc:docMk/>
            <pc:sldMk cId="393150425" sldId="264"/>
            <ac:spMk id="2" creationId="{C80C8DFE-4B97-9D8A-D76A-41575F8222D5}"/>
          </ac:spMkLst>
        </pc:spChg>
        <pc:spChg chg="mod">
          <ac:chgData name="Sumant Bhise" userId="5680dd18a9506244" providerId="LiveId" clId="{95A12488-B79D-4620-9781-48E66BF723D5}" dt="2025-07-24T09:14:09.120" v="378" actId="20577"/>
          <ac:spMkLst>
            <pc:docMk/>
            <pc:sldMk cId="393150425" sldId="264"/>
            <ac:spMk id="3" creationId="{3BD34C34-BD46-EB4F-CFE9-237AD14839DF}"/>
          </ac:spMkLst>
        </pc:spChg>
      </pc:sldChg>
      <pc:sldChg chg="addSp delSp modSp new mod">
        <pc:chgData name="Sumant Bhise" userId="5680dd18a9506244" providerId="LiveId" clId="{95A12488-B79D-4620-9781-48E66BF723D5}" dt="2025-07-24T09:13:47.876" v="375" actId="122"/>
        <pc:sldMkLst>
          <pc:docMk/>
          <pc:sldMk cId="3629472704" sldId="265"/>
        </pc:sldMkLst>
        <pc:graphicFrameChg chg="add del">
          <ac:chgData name="Sumant Bhise" userId="5680dd18a9506244" providerId="LiveId" clId="{95A12488-B79D-4620-9781-48E66BF723D5}" dt="2025-07-24T08:54:37.061" v="31" actId="3680"/>
          <ac:graphicFrameMkLst>
            <pc:docMk/>
            <pc:sldMk cId="3629472704" sldId="265"/>
            <ac:graphicFrameMk id="2" creationId="{C834BC71-996D-F2EA-1EC8-1E3E86CB3A75}"/>
          </ac:graphicFrameMkLst>
        </pc:graphicFrameChg>
        <pc:graphicFrameChg chg="add del mod modGraphic">
          <ac:chgData name="Sumant Bhise" userId="5680dd18a9506244" providerId="LiveId" clId="{95A12488-B79D-4620-9781-48E66BF723D5}" dt="2025-07-24T08:56:42.582" v="113" actId="478"/>
          <ac:graphicFrameMkLst>
            <pc:docMk/>
            <pc:sldMk cId="3629472704" sldId="265"/>
            <ac:graphicFrameMk id="3" creationId="{B53C56BA-E42A-500D-6E9B-25CCAEABCAF6}"/>
          </ac:graphicFrameMkLst>
        </pc:graphicFrameChg>
        <pc:graphicFrameChg chg="add mod modGraphic">
          <ac:chgData name="Sumant Bhise" userId="5680dd18a9506244" providerId="LiveId" clId="{95A12488-B79D-4620-9781-48E66BF723D5}" dt="2025-07-24T09:13:47.876" v="375" actId="122"/>
          <ac:graphicFrameMkLst>
            <pc:docMk/>
            <pc:sldMk cId="3629472704" sldId="265"/>
            <ac:graphicFrameMk id="4" creationId="{5A7BBB37-AE1A-C403-BBC9-D3C0072ACAA9}"/>
          </ac:graphicFrameMkLst>
        </pc:graphicFrameChg>
      </pc:sldChg>
      <pc:sldChg chg="modSp add mod ord">
        <pc:chgData name="Sumant Bhise" userId="5680dd18a9506244" providerId="LiveId" clId="{95A12488-B79D-4620-9781-48E66BF723D5}" dt="2025-07-24T09:30:17.741" v="455"/>
        <pc:sldMkLst>
          <pc:docMk/>
          <pc:sldMk cId="329680432" sldId="266"/>
        </pc:sldMkLst>
        <pc:graphicFrameChg chg="mod modGraphic">
          <ac:chgData name="Sumant Bhise" userId="5680dd18a9506244" providerId="LiveId" clId="{95A12488-B79D-4620-9781-48E66BF723D5}" dt="2025-07-24T09:25:19.040" v="427" actId="2165"/>
          <ac:graphicFrameMkLst>
            <pc:docMk/>
            <pc:sldMk cId="329680432" sldId="266"/>
            <ac:graphicFrameMk id="4" creationId="{6F5DDF7B-1E0D-8BBC-2383-A2CA851F4F98}"/>
          </ac:graphicFrameMkLst>
        </pc:graphicFrameChg>
      </pc:sldChg>
      <pc:sldChg chg="modSp add mod ord">
        <pc:chgData name="Sumant Bhise" userId="5680dd18a9506244" providerId="LiveId" clId="{95A12488-B79D-4620-9781-48E66BF723D5}" dt="2025-07-24T09:30:22.193" v="457"/>
        <pc:sldMkLst>
          <pc:docMk/>
          <pc:sldMk cId="1876712513" sldId="267"/>
        </pc:sldMkLst>
        <pc:graphicFrameChg chg="mod modGraphic">
          <ac:chgData name="Sumant Bhise" userId="5680dd18a9506244" providerId="LiveId" clId="{95A12488-B79D-4620-9781-48E66BF723D5}" dt="2025-07-24T09:30:01.807" v="453"/>
          <ac:graphicFrameMkLst>
            <pc:docMk/>
            <pc:sldMk cId="1876712513" sldId="267"/>
            <ac:graphicFrameMk id="4" creationId="{442C1D07-EBA2-1DFA-7E9D-260B9D91EA8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full/10.1155/2021/5561065" TargetMode="External"/><Relationship Id="rId2" Type="http://schemas.openxmlformats.org/officeDocument/2006/relationships/hyperlink" Target="https://www.ijasret.com/VolumeArticles/FullTextPDF/1474_Implementation_of_Smart_Agricultural_Equipment_Rental_System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eeexplore.ieee.org/abstract/document/9159588" TargetMode="External"/><Relationship Id="rId4" Type="http://schemas.openxmlformats.org/officeDocument/2006/relationships/hyperlink" Target="https://www.sciencedirect.com/science/article/pii/S016816992300655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4469822-EDD3-4C6E-B770-EBE38139A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1096528"/>
            <a:ext cx="12100968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with Student ID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Om Panchal - 22106025</a:t>
            </a:r>
          </a:p>
          <a:p>
            <a:pPr algn="ctr"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Sumant Bhise - 22106095</a:t>
            </a:r>
          </a:p>
          <a:p>
            <a:pPr algn="ctr"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Sidra Khan - 22106028</a:t>
            </a:r>
          </a:p>
          <a:p>
            <a:pPr algn="ctr"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Devang </a:t>
            </a:r>
            <a:r>
              <a:rPr lang="en-IN" alt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Dhuri</a:t>
            </a: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- 22106036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Shraddha Dalvi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1E6A91-D6F1-43E9-8587-48CBDDF23992}"/>
              </a:ext>
            </a:extLst>
          </p:cNvPr>
          <p:cNvCxnSpPr/>
          <p:nvPr/>
        </p:nvCxnSpPr>
        <p:spPr>
          <a:xfrm>
            <a:off x="0" y="1743075"/>
            <a:ext cx="134478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3">
            <a:extLst>
              <a:ext uri="{FF2B5EF4-FFF2-40B4-BE49-F238E27FC236}">
                <a16:creationId xmlns:a16="http://schemas.microsoft.com/office/drawing/2014/main" id="{1D81D922-3865-40A5-AD36-0A1BBCDBF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"/>
            <a:ext cx="10279681" cy="174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379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38ED-3EBC-4A1B-B918-DAC38A58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05" y="29330"/>
            <a:ext cx="10407597" cy="11127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 chain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P2P Agricultural Equipment Rental         Platform Using Blockchain Technology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D3B32E-3979-4726-92D7-DBB6A16E3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352"/>
          <a:stretch/>
        </p:blipFill>
        <p:spPr>
          <a:xfrm>
            <a:off x="599441" y="2560320"/>
            <a:ext cx="5972832" cy="4725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9A6671-8535-4C4E-A96C-AC4B9B9E8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338" y="2966991"/>
            <a:ext cx="4733832" cy="417013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C4623D-DED9-42D8-95DE-3753BA9E7FFF}"/>
              </a:ext>
            </a:extLst>
          </p:cNvPr>
          <p:cNvCxnSpPr/>
          <p:nvPr/>
        </p:nvCxnSpPr>
        <p:spPr>
          <a:xfrm flipH="1">
            <a:off x="8737601" y="4199467"/>
            <a:ext cx="4741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61ABE6-6ED1-4DE1-BCEC-A0C35294B37E}"/>
              </a:ext>
            </a:extLst>
          </p:cNvPr>
          <p:cNvCxnSpPr>
            <a:cxnSpLocks/>
          </p:cNvCxnSpPr>
          <p:nvPr/>
        </p:nvCxnSpPr>
        <p:spPr>
          <a:xfrm flipH="1">
            <a:off x="8525938" y="4673600"/>
            <a:ext cx="601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8AC0F3-053C-4E9A-B187-9B45D5C9781E}"/>
              </a:ext>
            </a:extLst>
          </p:cNvPr>
          <p:cNvCxnSpPr/>
          <p:nvPr/>
        </p:nvCxnSpPr>
        <p:spPr>
          <a:xfrm flipH="1">
            <a:off x="8305795" y="5164667"/>
            <a:ext cx="78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D8532A-1BC7-49FA-94E5-7F60D4826575}"/>
              </a:ext>
            </a:extLst>
          </p:cNvPr>
          <p:cNvCxnSpPr/>
          <p:nvPr/>
        </p:nvCxnSpPr>
        <p:spPr>
          <a:xfrm flipH="1">
            <a:off x="8246530" y="5681134"/>
            <a:ext cx="78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4585C4-E1F0-47FC-BE5D-5D0849364B89}"/>
              </a:ext>
            </a:extLst>
          </p:cNvPr>
          <p:cNvCxnSpPr/>
          <p:nvPr/>
        </p:nvCxnSpPr>
        <p:spPr>
          <a:xfrm flipH="1">
            <a:off x="8229598" y="6138334"/>
            <a:ext cx="78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8E07277-8D0E-A748-9559-644AC07736A9}"/>
              </a:ext>
            </a:extLst>
          </p:cNvPr>
          <p:cNvSpPr txBox="1"/>
          <p:nvPr/>
        </p:nvSpPr>
        <p:spPr>
          <a:xfrm>
            <a:off x="1412353" y="1005121"/>
            <a:ext cx="9367294" cy="199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15700"/>
              </a:lnSpc>
            </a:pPr>
            <a:r>
              <a:rPr lang="en-US" b="1" u="sng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</a:p>
          <a:p>
            <a:pPr marL="12700" marR="5080" algn="just">
              <a:lnSpc>
                <a:spcPct val="115700"/>
              </a:lnSpc>
            </a:pPr>
            <a:r>
              <a:rPr lang="en-US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 Chain offers a blockchain-based P2P platform for renting agricultural equipment securely and transparently. Smart contracts automate rental agreements, payments, and dispute resolution without intermediaries. The system ensures trust, reduces costs, and provides real-time access to equipment availability and history.</a:t>
            </a:r>
          </a:p>
          <a:p>
            <a:pPr marL="12700" marR="5080" algn="ctr">
              <a:lnSpc>
                <a:spcPct val="115700"/>
              </a:lnSpc>
            </a:pPr>
            <a:r>
              <a:rPr lang="en-US" b="1" u="heavy" spc="-9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8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7BBB37-AE1A-C403-BBC9-D3C0072AC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081535"/>
              </p:ext>
            </p:extLst>
          </p:nvPr>
        </p:nvGraphicFramePr>
        <p:xfrm>
          <a:off x="591015" y="167268"/>
          <a:ext cx="11229280" cy="60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56">
                  <a:extLst>
                    <a:ext uri="{9D8B030D-6E8A-4147-A177-3AD203B41FA5}">
                      <a16:colId xmlns:a16="http://schemas.microsoft.com/office/drawing/2014/main" val="116301005"/>
                    </a:ext>
                  </a:extLst>
                </a:gridCol>
                <a:gridCol w="5101684">
                  <a:extLst>
                    <a:ext uri="{9D8B030D-6E8A-4147-A177-3AD203B41FA5}">
                      <a16:colId xmlns:a16="http://schemas.microsoft.com/office/drawing/2014/main" val="4089637571"/>
                    </a:ext>
                  </a:extLst>
                </a:gridCol>
                <a:gridCol w="2807320">
                  <a:extLst>
                    <a:ext uri="{9D8B030D-6E8A-4147-A177-3AD203B41FA5}">
                      <a16:colId xmlns:a16="http://schemas.microsoft.com/office/drawing/2014/main" val="491119356"/>
                    </a:ext>
                  </a:extLst>
                </a:gridCol>
                <a:gridCol w="2807320">
                  <a:extLst>
                    <a:ext uri="{9D8B030D-6E8A-4147-A177-3AD203B41FA5}">
                      <a16:colId xmlns:a16="http://schemas.microsoft.com/office/drawing/2014/main" val="1943167996"/>
                    </a:ext>
                  </a:extLst>
                </a:gridCol>
              </a:tblGrid>
              <a:tr h="6356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Sr. No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3584"/>
                  </a:ext>
                </a:extLst>
              </a:tr>
              <a:tr h="106865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Implementation of Smart Agricultural Equipment Rental System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International Journal of Advanced Scientific Research &amp; Engineering Trends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1474_Implementation_of_Smart_Agricultural_Equipment_Rental_System.pdf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423050"/>
                  </a:ext>
                </a:extLst>
              </a:tr>
              <a:tr h="9638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Metaheuristic and Machine Learning-Based Smart Engine for Renting and Sharing of Agriculture Equipment</a:t>
                      </a:r>
                    </a:p>
                    <a:p>
                      <a:pPr algn="ctr"/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u="none" dirty="0">
                          <a:solidFill>
                            <a:schemeClr val="tx1"/>
                          </a:solidFill>
                        </a:rPr>
                        <a:t>Manik Rakhra, Ramandeep Singh, Tarun Kumar Lohani, Mohammad Shabaz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Metaheuristic and Machine Learning‐Based Smart Engine for Renting and Sharing of Agriculture Equipment - Rakhra - 2021 - Mathematical Problems in Engineering - Wiley Online Library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134693"/>
                  </a:ext>
                </a:extLst>
              </a:tr>
              <a:tr h="9638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new location verification protocol and blockchain-based drone rental mechanism in smart farming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Computers and Electronics in Agriculture</a:t>
                      </a: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 214, November 2023, 108267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 new location verification protocol and blockchain-based drone rental mechanism in smart farming - ScienceDirect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74152"/>
                  </a:ext>
                </a:extLst>
              </a:tr>
              <a:tr h="9638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Blockchain Technology in Current Agricultural Systems: From Techniques to Applications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Blockchain Technology in Current Agricultural Systems: From Techniques to Applications | IEEE Journals &amp; Magazine | IEEE Xplore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4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47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2518" y="94345"/>
            <a:ext cx="829808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StudyGenie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Your AI-Powered Study Companion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9629" y="704134"/>
            <a:ext cx="10150763" cy="42099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2700" marR="5080" algn="just">
              <a:lnSpc>
                <a:spcPct val="115700"/>
              </a:lnSpc>
            </a:pPr>
            <a:endParaRPr lang="en-US" b="1" u="sng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700"/>
              </a:lnSpc>
            </a:pPr>
            <a:endParaRPr lang="en-US" b="1" u="sng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-65">
                <a:latin typeface="Times New Roman"/>
                <a:cs typeface="Times New Roman"/>
              </a:rPr>
              <a:t>Problem Statement:</a:t>
            </a:r>
            <a:endParaRPr lang="en-US" b="1" spc="-65" dirty="0">
              <a:latin typeface="Times New Roman"/>
              <a:cs typeface="Times New Roman"/>
            </a:endParaRPr>
          </a:p>
          <a:p>
            <a:pPr algn="just"/>
            <a:r>
              <a:rPr lang="en-US" spc="-65" dirty="0">
                <a:latin typeface="Times New Roman"/>
                <a:cs typeface="Times New Roman"/>
              </a:rPr>
              <a:t>Students waste valuable time searching for study help online, often finding resources that are too complex, irrelevant, or generic. This inefficiency frustrates learners and hampers effective study habits.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en-US" b="1" spc="-65" dirty="0">
                <a:latin typeface="Times New Roman"/>
                <a:cs typeface="Times New Roman"/>
              </a:rPr>
              <a:t>Objectives:</a:t>
            </a:r>
            <a:endParaRPr lang="en-US" b="1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pc="-65" dirty="0">
                <a:latin typeface="Times New Roman"/>
                <a:cs typeface="Times New Roman"/>
              </a:rPr>
              <a:t>-To automate generation of study aids</a:t>
            </a:r>
            <a:endParaRPr lang="en-US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pc="-65" dirty="0">
                <a:latin typeface="Times New Roman"/>
                <a:cs typeface="Times New Roman"/>
              </a:rPr>
              <a:t>-To make study </a:t>
            </a:r>
            <a:r>
              <a:rPr lang="en-US" spc="-65" err="1">
                <a:latin typeface="Times New Roman"/>
                <a:cs typeface="Times New Roman"/>
              </a:rPr>
              <a:t>smarter,faster</a:t>
            </a:r>
            <a:r>
              <a:rPr lang="en-US" spc="-65" dirty="0">
                <a:latin typeface="Times New Roman"/>
                <a:cs typeface="Times New Roman"/>
              </a:rPr>
              <a:t> and more engaging</a:t>
            </a:r>
          </a:p>
          <a:p>
            <a:pPr algn="just"/>
            <a:r>
              <a:rPr lang="en-US" spc="-65" dirty="0">
                <a:latin typeface="Times New Roman"/>
                <a:cs typeface="Times New Roman"/>
              </a:rPr>
              <a:t>-To assist learners in retraining information more effectively</a:t>
            </a:r>
            <a:endParaRPr lang="en-US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spc="-65" dirty="0">
                <a:latin typeface="Times New Roman"/>
                <a:cs typeface="Times New Roman"/>
              </a:rPr>
              <a:t>  Architecture:</a:t>
            </a:r>
            <a:endParaRPr lang="en-US" b="1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700"/>
              </a:lnSpc>
            </a:pPr>
            <a:endParaRPr lang="en-US" b="1" u="heavy" spc="-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15700"/>
              </a:lnSpc>
            </a:pPr>
            <a:endParaRPr lang="en-US" b="1" u="heavy" spc="-95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marL="12700" marR="5080" algn="ctr">
              <a:lnSpc>
                <a:spcPct val="115700"/>
              </a:lnSpc>
            </a:pPr>
            <a:endParaRPr lang="en-US" b="1" u="heavy" spc="-95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marL="12700" marR="5080" algn="ctr">
              <a:lnSpc>
                <a:spcPct val="115700"/>
              </a:lnSpc>
            </a:pPr>
            <a:endParaRPr lang="en-US" b="1" u="heavy" spc="-95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440" y="3809054"/>
            <a:ext cx="8846838" cy="281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2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44C2-3A02-AE54-8909-5BC10DF76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E81C8-088F-E857-1368-A0A58127DC94}"/>
              </a:ext>
            </a:extLst>
          </p:cNvPr>
          <p:cNvSpPr txBox="1"/>
          <p:nvPr/>
        </p:nvSpPr>
        <p:spPr>
          <a:xfrm>
            <a:off x="1569453" y="339559"/>
            <a:ext cx="938730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Uniqueness 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AI-generated quiz questions with explanations for incorrect answers.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Retention tracking (e.g., "You’re on track to remember this for X days").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Customizable decks based on uploaded documents/pdf content.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Time saving + dynamic engagement vs manual tools or static flashcard apps.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83BB4-CC78-3A31-7F8A-D469971B68AA}"/>
              </a:ext>
            </a:extLst>
          </p:cNvPr>
          <p:cNvSpPr txBox="1"/>
          <p:nvPr/>
        </p:nvSpPr>
        <p:spPr>
          <a:xfrm>
            <a:off x="1569453" y="1983874"/>
            <a:ext cx="938730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System Overview</a:t>
            </a:r>
          </a:p>
          <a:p>
            <a:r>
              <a:rPr lang="en-US">
                <a:latin typeface="Times New Roman"/>
                <a:cs typeface="Times New Roman"/>
              </a:rPr>
              <a:t>-upload document </a:t>
            </a:r>
          </a:p>
          <a:p>
            <a:r>
              <a:rPr lang="en-US">
                <a:latin typeface="Times New Roman"/>
                <a:cs typeface="Times New Roman"/>
              </a:rPr>
              <a:t>-AI extracts key concepts</a:t>
            </a:r>
          </a:p>
          <a:p>
            <a:r>
              <a:rPr lang="en-US">
                <a:latin typeface="Times New Roman"/>
                <a:cs typeface="Times New Roman"/>
              </a:rPr>
              <a:t>-User engagement </a:t>
            </a:r>
          </a:p>
          <a:p>
            <a:r>
              <a:rPr lang="en-US">
                <a:latin typeface="Times New Roman"/>
                <a:cs typeface="Times New Roman"/>
              </a:rPr>
              <a:t>-Quiz and Flash Card generation</a:t>
            </a:r>
          </a:p>
          <a:p>
            <a:r>
              <a:rPr lang="en-US">
                <a:latin typeface="Times New Roman"/>
                <a:cs typeface="Times New Roman"/>
              </a:rPr>
              <a:t>-Mood based AI response</a:t>
            </a:r>
          </a:p>
          <a:p>
            <a:r>
              <a:rPr lang="en-US">
                <a:latin typeface="Times New Roman"/>
                <a:cs typeface="Times New Roman"/>
              </a:rPr>
              <a:t>-calendar based reminders</a:t>
            </a:r>
            <a:endParaRPr lang="en-US" dirty="0">
              <a:latin typeface="Times New Roman"/>
              <a:cs typeface="Times New Roman"/>
            </a:endParaRPr>
          </a:p>
          <a:p>
            <a:endParaRPr lang="en-US" b="1" dirty="0"/>
          </a:p>
          <a:p>
            <a:pPr marL="228600" indent="-228600">
              <a:buFont typeface="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C9DFB-F310-AE6C-A0D8-C7889885A156}"/>
              </a:ext>
            </a:extLst>
          </p:cNvPr>
          <p:cNvSpPr txBox="1"/>
          <p:nvPr/>
        </p:nvSpPr>
        <p:spPr>
          <a:xfrm>
            <a:off x="1565787" y="4576916"/>
            <a:ext cx="759787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 Goal Alignment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Build a working MVP that automates quiz/flashcard creation.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Implement study-tracking features.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Demonstrate real retention gains through user testing.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Tie these goals to project rubric: complexity, usability, innovation.</a:t>
            </a:r>
          </a:p>
        </p:txBody>
      </p:sp>
    </p:spTree>
    <p:extLst>
      <p:ext uri="{BB962C8B-B14F-4D97-AF65-F5344CB8AC3E}">
        <p14:creationId xmlns:p14="http://schemas.microsoft.com/office/powerpoint/2010/main" val="32968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B3A60-70AB-4994-B3BD-5E74AF9A9078}"/>
              </a:ext>
            </a:extLst>
          </p:cNvPr>
          <p:cNvSpPr txBox="1"/>
          <p:nvPr/>
        </p:nvSpPr>
        <p:spPr>
          <a:xfrm>
            <a:off x="1775012" y="28075"/>
            <a:ext cx="8387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BERT + GNN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21FAF2-79B7-4D3D-BA23-600F28A950E9}"/>
              </a:ext>
            </a:extLst>
          </p:cNvPr>
          <p:cNvSpPr/>
          <p:nvPr/>
        </p:nvSpPr>
        <p:spPr>
          <a:xfrm>
            <a:off x="1658470" y="757931"/>
            <a:ext cx="10533529" cy="199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15700"/>
              </a:lnSpc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</a:p>
          <a:p>
            <a:pPr marL="12700" marR="5080">
              <a:lnSpc>
                <a:spcPct val="1157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powerful fake news detection system that combines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 language understanding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 (GNNs)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how news spreads on social media. By integrating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model evaluates both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trustworthiness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u="heavy" spc="-95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15700"/>
              </a:lnSpc>
            </a:pPr>
            <a:r>
              <a:rPr lang="en-US" b="1" u="heavy" spc="-9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pPr marL="12700" marR="5080">
              <a:lnSpc>
                <a:spcPct val="115700"/>
              </a:lnSpc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98762-3175-3137-CA89-DA954726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2" t="6721" r="1"/>
          <a:stretch>
            <a:fillRect/>
          </a:stretch>
        </p:blipFill>
        <p:spPr>
          <a:xfrm>
            <a:off x="3783301" y="2683967"/>
            <a:ext cx="6292506" cy="4096871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ADAAB201-39B7-BCCC-769D-EB389163E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301" y="2796050"/>
            <a:ext cx="6413289" cy="370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76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A8C5-4F0D-C310-E0F8-BD82BCEC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71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F6C7F7-0513-44C5-B874-FD02424858DB}"/>
              </a:ext>
            </a:extLst>
          </p:cNvPr>
          <p:cNvSpPr txBox="1"/>
          <p:nvPr/>
        </p:nvSpPr>
        <p:spPr>
          <a:xfrm>
            <a:off x="2413000" y="2395728"/>
            <a:ext cx="92837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latin typeface="Bell MT" panose="02020503060305020303" pitchFamily="18" charset="0"/>
              </a:rPr>
              <a:t>THANK YOU</a:t>
            </a:r>
            <a:endParaRPr lang="en-IN" sz="115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6616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412</TotalTime>
  <Words>725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Wisp</vt:lpstr>
      <vt:lpstr>PowerPoint Presentation</vt:lpstr>
      <vt:lpstr>1. Farm chain - P2P Agricultural Equipment Rental         Platform Using Blockchain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Sumant Bhise</cp:lastModifiedBy>
  <cp:revision>109</cp:revision>
  <dcterms:created xsi:type="dcterms:W3CDTF">2025-07-10T05:13:42Z</dcterms:created>
  <dcterms:modified xsi:type="dcterms:W3CDTF">2025-07-24T18:38:56Z</dcterms:modified>
</cp:coreProperties>
</file>